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58200" y="0"/>
            <a:ext cx="3730752" cy="6858000"/>
          </a:xfrm>
          <a:prstGeom prst="rect">
            <a:avLst/>
          </a:prstGeom>
          <a:solidFill>
            <a:srgbClr val="233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58200" y="0"/>
            <a:ext cx="91440" cy="6858000"/>
          </a:xfrm>
          <a:prstGeom prst="rect">
            <a:avLst/>
          </a:prstGeom>
          <a:solidFill>
            <a:srgbClr val="F16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669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E66F"/>
                </a:solidFill>
                <a:latin typeface="Aptos"/>
              </a:rPr>
              <a:t>LEADERSHIP OVERVIEW  |  27 OCT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70408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ptos Display"/>
              </a:rPr>
              <a:t>GitHub project
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246120"/>
            <a:ext cx="6720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E4EFEB"/>
                </a:solidFill>
                <a:latin typeface="Aptos"/>
              </a:rPr>
              <a:t>A source-grounded assistant for repository status, with human control over every write.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4736592"/>
            <a:ext cx="1828800" cy="438912"/>
          </a:xfrm>
          <a:prstGeom prst="roundRect">
            <a:avLst>
              <a:gd name="adj" fmla="val 12000"/>
            </a:avLst>
          </a:prstGeom>
          <a:solidFill>
            <a:srgbClr val="19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4818888"/>
            <a:ext cx="16276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READ-ONLY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4912" y="4736592"/>
            <a:ext cx="1591056" cy="438912"/>
          </a:xfrm>
          <a:prstGeom prst="roundRect">
            <a:avLst>
              <a:gd name="adj" fmla="val 12000"/>
            </a:avLst>
          </a:prstGeom>
          <a:solidFill>
            <a:srgbClr val="F16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25496" y="4818888"/>
            <a:ext cx="13898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CITED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4736592"/>
            <a:ext cx="1874519" cy="438912"/>
          </a:xfrm>
          <a:prstGeom prst="roundRect">
            <a:avLst>
              <a:gd name="adj" fmla="val 12000"/>
            </a:avLst>
          </a:prstGeom>
          <a:solidFill>
            <a:srgbClr val="D9E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4818888"/>
            <a:ext cx="167335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172824"/>
                </a:solidFill>
                <a:latin typeface="Aptos"/>
              </a:rPr>
              <a:t>HUMAN APPROVAL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731520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E66F"/>
                </a:solidFill>
                <a:latin typeface="Aptos"/>
              </a:rPr>
              <a:t>THE CURRENT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9408" y="1417320"/>
            <a:ext cx="2560320" cy="841248"/>
          </a:xfrm>
          <a:prstGeom prst="roundRect">
            <a:avLst>
              <a:gd name="adj" fmla="val 12000"/>
            </a:avLst>
          </a:prstGeom>
          <a:solidFill>
            <a:srgbClr val="19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154533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190195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approved evidence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259568" y="2313432"/>
            <a:ext cx="0" cy="338328"/>
          </a:xfrm>
          <a:prstGeom prst="line">
            <a:avLst/>
          </a:prstGeom>
          <a:ln w="19050">
            <a:solidFill>
              <a:srgbClr val="E4E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79408" y="2743200"/>
            <a:ext cx="2560320" cy="841248"/>
          </a:xfrm>
          <a:prstGeom prst="roundRect">
            <a:avLst>
              <a:gd name="adj" fmla="val 12000"/>
            </a:avLst>
          </a:prstGeom>
          <a:solidFill>
            <a:srgbClr val="F16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62288" y="287121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Gemini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322783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Aptos"/>
              </a:rPr>
              <a:t>structured analysis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259568" y="3639312"/>
            <a:ext cx="0" cy="338327"/>
          </a:xfrm>
          <a:prstGeom prst="line">
            <a:avLst/>
          </a:prstGeom>
          <a:ln w="19050">
            <a:solidFill>
              <a:srgbClr val="E4E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979408" y="4069080"/>
            <a:ext cx="2560320" cy="841248"/>
          </a:xfrm>
          <a:prstGeom prst="roundRect">
            <a:avLst>
              <a:gd name="adj" fmla="val 12000"/>
            </a:avLst>
          </a:prstGeom>
          <a:solidFill>
            <a:srgbClr val="D9E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419709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2824"/>
                </a:solidFill>
                <a:latin typeface="Aptos"/>
              </a:rPr>
              <a:t>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45537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172824"/>
                </a:solidFill>
                <a:latin typeface="Aptos"/>
              </a:rPr>
              <a:t>sources attached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5984" y="5724144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4EFEB"/>
                </a:solidFill>
                <a:latin typeface="Aptos"/>
              </a:rPr>
              <a:t>A focused first release,
not an autonomous operator.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425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E4EFEB"/>
                </a:solidFill>
                <a:latin typeface="Aptos"/>
              </a:rPr>
              <a:t>GITHUB PROJECT INTELLIGENCE  /  LEADERSHIP BRIEF  /  27 OCT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4EFEB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8F83"/>
                </a:solidFill>
                <a:latin typeface="Aptos"/>
              </a:rPr>
              <a:t>01  /  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72824"/>
                </a:solidFill>
                <a:latin typeface="Aptos Display"/>
              </a:rPr>
              <a:t>Project activity is spread across the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716B"/>
                </a:solidFill>
                <a:latin typeface="Aptos"/>
              </a:rPr>
              <a:t>A status answer is useful only when a leader can see what it is based 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65379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011680"/>
            <a:ext cx="109728" cy="804672"/>
          </a:xfrm>
          <a:prstGeom prst="rect">
            <a:avLst/>
          </a:prstGeom>
          <a:solidFill>
            <a:srgbClr val="19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139696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8F83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12264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824"/>
                </a:solidFill>
                <a:latin typeface="Aptos"/>
              </a:rPr>
              <a:t>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3246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716B"/>
                </a:solidFill>
                <a:latin typeface="Aptos"/>
              </a:rPr>
              <a:t>What is this project and where does it live?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90672"/>
            <a:ext cx="65379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3090672"/>
            <a:ext cx="109728" cy="804672"/>
          </a:xfrm>
          <a:prstGeom prst="rect">
            <a:avLst/>
          </a:prstGeom>
          <a:solidFill>
            <a:srgbClr val="F16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2186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6A55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824"/>
                </a:solidFill>
                <a:latin typeface="Aptos"/>
              </a:rPr>
              <a:t>Open issues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227832"/>
            <a:ext cx="3246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716B"/>
                </a:solidFill>
                <a:latin typeface="Aptos"/>
              </a:rPr>
              <a:t>What is blocked, reported, or still unresolved?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69664"/>
            <a:ext cx="653796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169664"/>
            <a:ext cx="109728" cy="804672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2976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D6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270248"/>
            <a:ext cx="2103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72824"/>
                </a:solidFill>
                <a:latin typeface="Aptos"/>
              </a:rPr>
              <a:t>Pull 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306824"/>
            <a:ext cx="32461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F716B"/>
                </a:solidFill>
                <a:latin typeface="Aptos"/>
              </a:rPr>
              <a:t>What changes are proposed and awaiting action?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2011680"/>
            <a:ext cx="3822191" cy="2962656"/>
          </a:xfrm>
          <a:prstGeom prst="roundRect">
            <a:avLst>
              <a:gd name="adj" fmla="val 12000"/>
            </a:avLst>
          </a:prstGeom>
          <a:solidFill>
            <a:srgbClr val="17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73568" y="2331720"/>
            <a:ext cx="312724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E66F"/>
                </a:solidFill>
                <a:latin typeface="Aptos"/>
              </a:rPr>
              <a:t>THE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73568" y="278892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 Display"/>
              </a:rPr>
              <a:t>What changed?
What needs attention?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4133087"/>
            <a:ext cx="305409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4EFEB"/>
                </a:solidFill>
                <a:latin typeface="Aptos"/>
              </a:rPr>
              <a:t>Answer in minutes, with a trail back to GitHub.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32704"/>
            <a:ext cx="106527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72824"/>
                </a:solidFill>
                <a:latin typeface="Aptos"/>
              </a:rPr>
              <a:t>Opportunity: reduce manual synthesis effort while preserving source review and repository boundaries.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F716B"/>
                </a:solidFill>
                <a:latin typeface="Aptos"/>
              </a:rPr>
              <a:t>GITHUB PROJECT INTELLIGENCE  /  LEADERSHIP BRIEF  /  27 OCT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9224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F716B"/>
                </a:solidFill>
                <a:latin typeface="Apto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8F83"/>
                </a:solidFill>
                <a:latin typeface="Aptos"/>
              </a:rPr>
              <a:t>02  /  WHAT WORKS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72824"/>
                </a:solidFill>
                <a:latin typeface="Aptos Display"/>
              </a:rPr>
              <a:t>One focused workflow: open repository status.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716B"/>
                </a:solidFill>
                <a:latin typeface="Aptos"/>
              </a:rPr>
              <a:t>The CLI is the only end-to-end workflow currently wired for live use.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657600" cy="3977639"/>
          </a:xfrm>
          <a:prstGeom prst="roundRect">
            <a:avLst>
              <a:gd name="adj" fmla="val 12000"/>
            </a:avLst>
          </a:prstGeom>
          <a:solidFill>
            <a:srgbClr val="17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2240280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D9E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272284"/>
            <a:ext cx="127101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2824"/>
                </a:solidFill>
                <a:latin typeface="Aptos"/>
              </a:rPr>
              <a:t>CURRENT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788920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onsolas"/>
              </a:rPr>
              <a:t>status owner/repository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456432"/>
            <a:ext cx="2944368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E4EFEB"/>
                </a:solidFill>
                <a:latin typeface="Aptos"/>
              </a:rPr>
              <a:t>Fetch repository metadata, up to 30 open issues, and up to 30 open pull requests.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038344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E66F"/>
                </a:solidFill>
                <a:latin typeface="Aptos"/>
              </a:rPr>
              <a:t>Returns structured JSON; failures exit non-zero.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66543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8F83"/>
                </a:solidFill>
                <a:latin typeface="Aptos"/>
              </a:rPr>
              <a:t>THE 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28032" y="2560320"/>
            <a:ext cx="294436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28032" y="2560320"/>
            <a:ext cx="91440" cy="731520"/>
          </a:xfrm>
          <a:prstGeom prst="rect">
            <a:avLst/>
          </a:prstGeom>
          <a:solidFill>
            <a:srgbClr val="19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660903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824"/>
                </a:solidFill>
                <a:latin typeface="Aptos"/>
              </a:rPr>
              <a:t>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295351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716B"/>
                </a:solidFill>
                <a:latin typeface="Aptos"/>
              </a:rPr>
              <a:t>Allowlisted, read-only GitHub 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9360" y="3310127"/>
            <a:ext cx="0" cy="164593"/>
          </a:xfrm>
          <a:prstGeom prst="line">
            <a:avLst/>
          </a:prstGeom>
          <a:ln w="19050">
            <a:solidFill>
              <a:srgbClr val="19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828032" y="3520439"/>
            <a:ext cx="294436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28032" y="3520439"/>
            <a:ext cx="91440" cy="731520"/>
          </a:xfrm>
          <a:prstGeom prst="rect">
            <a:avLst/>
          </a:prstGeom>
          <a:solidFill>
            <a:srgbClr val="F16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3621023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824"/>
                </a:solidFill>
                <a:latin typeface="Aptos"/>
              </a:rPr>
              <a:t>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3913631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716B"/>
                </a:solidFill>
                <a:latin typeface="Aptos"/>
              </a:rPr>
              <a:t>Google model returns structured claims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309360" y="4270248"/>
            <a:ext cx="0" cy="164592"/>
          </a:xfrm>
          <a:prstGeom prst="line">
            <a:avLst/>
          </a:prstGeom>
          <a:ln w="19050">
            <a:solidFill>
              <a:srgbClr val="19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828032" y="4480560"/>
            <a:ext cx="294436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28032" y="4480560"/>
            <a:ext cx="91440" cy="731520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581144"/>
            <a:ext cx="22860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824"/>
                </a:solidFill>
                <a:latin typeface="Aptos"/>
              </a:rP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487375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716B"/>
                </a:solidFill>
                <a:latin typeface="Aptos"/>
              </a:rPr>
              <a:t>Resolve citations to fetched sources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920240"/>
            <a:ext cx="3154680" cy="3977639"/>
          </a:xfrm>
          <a:prstGeom prst="roundRect">
            <a:avLst>
              <a:gd name="adj" fmla="val 12000"/>
            </a:avLst>
          </a:prstGeom>
          <a:solidFill>
            <a:srgbClr val="E4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41080" y="225856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8F83"/>
                </a:solidFill>
                <a:latin typeface="Aptos"/>
              </a:rPr>
              <a:t>OUTPUT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2743200"/>
            <a:ext cx="248716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72824"/>
                </a:solidFill>
                <a:latin typeface="Aptos Display"/>
              </a:rPr>
              <a:t>Summary
+ findings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41080" y="3877056"/>
            <a:ext cx="2468880" cy="10972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41080" y="4169663"/>
            <a:ext cx="248716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72824"/>
                </a:solidFill>
                <a:latin typeface="Aptos"/>
              </a:rPr>
              <a:t>Each claim can be checked against linked sources.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5257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F716B"/>
                </a:solidFill>
                <a:latin typeface="Aptos"/>
              </a:rPr>
              <a:t>ISSUES  /  PULL REQUESTS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F716B"/>
                </a:solidFill>
                <a:latin typeface="Aptos"/>
              </a:rPr>
              <a:t>GITHUB PROJECT INTELLIGENCE  /  LEADERSHIP BRIEF  /  27 OCT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F716B"/>
                </a:solidFill>
                <a:latin typeface="Apto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8F83"/>
                </a:solidFill>
                <a:latin typeface="Aptos"/>
              </a:rPr>
              <a:t>03  /  HOW IT IS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72824"/>
                </a:solidFill>
                <a:latin typeface="Aptos Display"/>
              </a:rPr>
              <a:t>A short, inspectable path from source to answer.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716B"/>
                </a:solidFill>
                <a:latin typeface="Aptos"/>
              </a:rPr>
              <a:t>LangGraph coordinates retrieval and analysis; validation stays in application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240280"/>
            <a:ext cx="3200400" cy="3127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2240280"/>
            <a:ext cx="3200400" cy="109728"/>
          </a:xfrm>
          <a:prstGeom prst="rect">
            <a:avLst/>
          </a:prstGeom>
          <a:solidFill>
            <a:srgbClr val="19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56946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8F83"/>
                </a:solidFill>
                <a:latin typeface="Aptos"/>
              </a:rPr>
              <a:t>01  RETRIEVE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944368"/>
            <a:ext cx="2697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72824"/>
                </a:solidFill>
                <a:latin typeface="Aptos Display"/>
              </a:rPr>
              <a:t>GitHub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11880"/>
            <a:ext cx="272491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198F83"/>
                </a:solidFill>
                <a:latin typeface="Aptos"/>
              </a:rPr>
              <a:t>•  </a:t>
            </a:r>
            <a:r>
              <a:rPr sz="1300">
                <a:solidFill>
                  <a:srgbClr val="172824"/>
                </a:solidFill>
                <a:latin typeface="Aptos"/>
              </a:rPr>
              <a:t>Repository metadata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98F83"/>
                </a:solidFill>
                <a:latin typeface="Aptos"/>
              </a:rPr>
              <a:t>•  </a:t>
            </a:r>
            <a:r>
              <a:rPr sz="1300">
                <a:solidFill>
                  <a:srgbClr val="172824"/>
                </a:solidFill>
                <a:latin typeface="Aptos"/>
              </a:rPr>
              <a:t>Open issues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198F83"/>
                </a:solidFill>
                <a:latin typeface="Aptos"/>
              </a:rPr>
              <a:t>•  </a:t>
            </a:r>
            <a:r>
              <a:rPr sz="1300">
                <a:solidFill>
                  <a:srgbClr val="172824"/>
                </a:solidFill>
                <a:latin typeface="Aptos"/>
              </a:rPr>
              <a:t>Open pull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2240280"/>
            <a:ext cx="3200400" cy="3127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5968" y="2240280"/>
            <a:ext cx="3200400" cy="109728"/>
          </a:xfrm>
          <a:prstGeom prst="rect">
            <a:avLst/>
          </a:prstGeom>
          <a:solidFill>
            <a:srgbClr val="F16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56946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16A55"/>
                </a:solidFill>
                <a:latin typeface="Aptos"/>
              </a:rPr>
              <a:t>02  ANALYZE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44368"/>
            <a:ext cx="2697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72824"/>
                </a:solidFill>
                <a:latin typeface="Aptos Display"/>
              </a:rPr>
              <a:t>Google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3611880"/>
            <a:ext cx="272491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16A55"/>
                </a:solidFill>
                <a:latin typeface="Aptos"/>
              </a:rPr>
              <a:t>•  </a:t>
            </a:r>
            <a:r>
              <a:rPr sz="1300">
                <a:solidFill>
                  <a:srgbClr val="172824"/>
                </a:solidFill>
                <a:latin typeface="Aptos"/>
              </a:rPr>
              <a:t>Evidence + source IDs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16A55"/>
                </a:solidFill>
                <a:latin typeface="Aptos"/>
              </a:rPr>
              <a:t>•  </a:t>
            </a:r>
            <a:r>
              <a:rPr sz="1300">
                <a:solidFill>
                  <a:srgbClr val="172824"/>
                </a:solidFill>
                <a:latin typeface="Aptos"/>
              </a:rPr>
              <a:t>Schema-constrained result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16A55"/>
                </a:solidFill>
                <a:latin typeface="Aptos"/>
              </a:rPr>
              <a:t>•  </a:t>
            </a:r>
            <a:r>
              <a:rPr sz="1300">
                <a:solidFill>
                  <a:srgbClr val="172824"/>
                </a:solidFill>
                <a:latin typeface="Aptos"/>
              </a:rPr>
              <a:t>No write tools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18704" y="2240280"/>
            <a:ext cx="3200400" cy="3127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18704" y="2240280"/>
            <a:ext cx="3200400" cy="109728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569464"/>
            <a:ext cx="2651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2BD62"/>
                </a:solidFill>
                <a:latin typeface="Aptos"/>
              </a:rPr>
              <a:t>03  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2944368"/>
            <a:ext cx="2697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72824"/>
                </a:solidFill>
                <a:latin typeface="Aptos Display"/>
              </a:rPr>
              <a:t>Pydantic +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611880"/>
            <a:ext cx="272491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F2BD62"/>
                </a:solidFill>
                <a:latin typeface="Aptos"/>
              </a:rPr>
              <a:t>•  </a:t>
            </a:r>
            <a:r>
              <a:rPr sz="1300">
                <a:solidFill>
                  <a:srgbClr val="172824"/>
                </a:solidFill>
                <a:latin typeface="Aptos"/>
              </a:rPr>
              <a:t>Resolve source IDs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2BD62"/>
                </a:solidFill>
                <a:latin typeface="Aptos"/>
              </a:rPr>
              <a:t>•  </a:t>
            </a:r>
            <a:r>
              <a:rPr sz="1300">
                <a:solidFill>
                  <a:srgbClr val="172824"/>
                </a:solidFill>
                <a:latin typeface="Aptos"/>
              </a:rPr>
              <a:t>Attach original URLs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F2BD62"/>
                </a:solidFill>
                <a:latin typeface="Aptos"/>
              </a:rPr>
              <a:t>•  </a:t>
            </a:r>
            <a:r>
              <a:rPr sz="1300">
                <a:solidFill>
                  <a:srgbClr val="172824"/>
                </a:solidFill>
                <a:latin typeface="Aptos"/>
              </a:rPr>
              <a:t>Return JSON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31920" y="3767328"/>
            <a:ext cx="283464" cy="0"/>
          </a:xfrm>
          <a:prstGeom prst="line">
            <a:avLst/>
          </a:prstGeom>
          <a:ln w="25400">
            <a:solidFill>
              <a:srgbClr val="19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34656" y="3767328"/>
            <a:ext cx="283464" cy="0"/>
          </a:xfrm>
          <a:prstGeom prst="line">
            <a:avLst/>
          </a:prstGeom>
          <a:ln w="25400">
            <a:solidFill>
              <a:srgbClr val="19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31520" y="5669280"/>
            <a:ext cx="10698480" cy="457200"/>
          </a:xfrm>
          <a:prstGeom prst="roundRect">
            <a:avLst>
              <a:gd name="adj" fmla="val 12000"/>
            </a:avLst>
          </a:prstGeom>
          <a:solidFill>
            <a:srgbClr val="17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769864"/>
            <a:ext cx="10241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If GitHub retrieval or model analysis fails, the workflow reports failure instead of returning a partial success.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F716B"/>
                </a:solidFill>
                <a:latin typeface="Aptos"/>
              </a:rPr>
              <a:t>GITHUB PROJECT INTELLIGENCE  /  LEADERSHIP BRIEF  /  27 OCT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F716B"/>
                </a:solidFill>
                <a:latin typeface="Apto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8F83"/>
                </a:solidFill>
                <a:latin typeface="Aptos"/>
              </a:rPr>
              <a:t>04  /  TRUST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72824"/>
                </a:solidFill>
                <a:latin typeface="Aptos Display"/>
              </a:rPr>
              <a:t>Every claim needs a path back to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716B"/>
                </a:solidFill>
                <a:latin typeface="Aptos"/>
              </a:rPr>
              <a:t>The model proposes analysis; the application resolves citations to trusted source objects.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011680"/>
            <a:ext cx="649224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04288"/>
            <a:ext cx="5760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8F83"/>
                </a:solidFill>
                <a:latin typeface="Aptos"/>
              </a:rPr>
              <a:t>EXAMPLE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79776"/>
            <a:ext cx="5577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72824"/>
                </a:solidFill>
                <a:latin typeface="Aptos Display"/>
              </a:rPr>
              <a:t>Open work centers on search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456432"/>
            <a:ext cx="5394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5F716B"/>
                </a:solidFill>
                <a:latin typeface="Aptos"/>
              </a:rPr>
              <a:t>SUPPORTED BY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4128" y="3822191"/>
            <a:ext cx="1508760" cy="310896"/>
          </a:xfrm>
          <a:prstGeom prst="roundRect">
            <a:avLst>
              <a:gd name="adj" fmla="val 12000"/>
            </a:avLst>
          </a:prstGeom>
          <a:solidFill>
            <a:srgbClr val="FB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854196"/>
            <a:ext cx="136245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2824"/>
                </a:solidFill>
                <a:latin typeface="Aptos"/>
              </a:rPr>
              <a:t>ISSUE  #42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3822191"/>
            <a:ext cx="1572768" cy="310896"/>
          </a:xfrm>
          <a:prstGeom prst="roundRect">
            <a:avLst>
              <a:gd name="adj" fmla="val 12000"/>
            </a:avLst>
          </a:prstGeom>
          <a:solidFill>
            <a:srgbClr val="F0F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854196"/>
            <a:ext cx="14264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2824"/>
                </a:solidFill>
                <a:latin typeface="Aptos"/>
              </a:rPr>
              <a:t>PULL  #17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24128" y="4462272"/>
            <a:ext cx="5760720" cy="10972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4773168"/>
            <a:ext cx="548640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72824"/>
                </a:solidFill>
                <a:latin typeface="Aptos"/>
              </a:rPr>
              <a:t>Unknown source IDs are rejected; output links come from fetched GitHub records.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2084831"/>
            <a:ext cx="3383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16A55"/>
                </a:solidFill>
                <a:latin typeface="Aptos"/>
              </a:rPr>
              <a:t>CONTROL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578608"/>
            <a:ext cx="3703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36992" y="2706624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6A55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670048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824"/>
                </a:solidFill>
                <a:latin typeface="Aptos"/>
              </a:rPr>
              <a:t>Scope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971800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716B"/>
                </a:solidFill>
                <a:latin typeface="Aptos"/>
              </a:rPr>
              <a:t>Repository allowlist checked before reads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3584448"/>
            <a:ext cx="3703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3712463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6A55"/>
                </a:solidFill>
                <a:latin typeface="Aptos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3675887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824"/>
                </a:solidFill>
                <a:latin typeface="Aptos"/>
              </a:rPr>
              <a:t>Tooling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3977639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716B"/>
                </a:solidFill>
                <a:latin typeface="Aptos"/>
              </a:rPr>
              <a:t>Only advertised read-only tools are accepted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590288"/>
            <a:ext cx="3703320" cy="7863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4718303"/>
            <a:ext cx="34747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6A55"/>
                </a:solidFill>
                <a:latin typeface="Aptos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4681727"/>
            <a:ext cx="2697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824"/>
                </a:solidFill>
                <a:latin typeface="Aptos"/>
              </a:rPr>
              <a:t>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983479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716B"/>
                </a:solidFill>
                <a:latin typeface="Aptos"/>
              </a:rPr>
              <a:t>Retrieved content is treated as untrusted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F716B"/>
                </a:solidFill>
                <a:latin typeface="Aptos"/>
              </a:rPr>
              <a:t>GITHUB PROJECT INTELLIGENCE  /  LEADERSHIP BRIEF  /  27 OCT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F716B"/>
                </a:solidFill>
                <a:latin typeface="Apto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8F83"/>
                </a:solidFill>
                <a:latin typeface="Aptos"/>
              </a:rPr>
              <a:t>05  / 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72824"/>
                </a:solidFill>
                <a:latin typeface="Aptos Display"/>
              </a:rPr>
              <a:t>Drafts are reviewable; they are not published.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716B"/>
                </a:solidFill>
                <a:latin typeface="Aptos"/>
              </a:rPr>
              <a:t>A separate API can prepare wiki content when a caller supplies scope and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230428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2304288" cy="100584"/>
          </a:xfrm>
          <a:prstGeom prst="rect">
            <a:avLst/>
          </a:prstGeom>
          <a:solidFill>
            <a:srgbClr val="19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824"/>
                </a:solidFill>
                <a:latin typeface="Aptos Display"/>
              </a:rPr>
              <a:t>Caller provides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716B"/>
                </a:solidFill>
                <a:latin typeface="Aptos"/>
              </a:rPr>
              <a:t>document type, target page, scope, evidence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81528" y="3355848"/>
            <a:ext cx="310896" cy="0"/>
          </a:xfrm>
          <a:prstGeom prst="line">
            <a:avLst/>
          </a:prstGeom>
          <a:ln w="20320">
            <a:solidFill>
              <a:srgbClr val="19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40" y="2423160"/>
            <a:ext cx="230428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2423160"/>
            <a:ext cx="2304288" cy="100584"/>
          </a:xfrm>
          <a:prstGeom prst="rect">
            <a:avLst/>
          </a:prstGeom>
          <a:solidFill>
            <a:srgbClr val="F16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2743200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824"/>
                </a:solidFill>
                <a:latin typeface="Aptos Display"/>
              </a:rPr>
              <a:t>Model drafts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346704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716B"/>
                </a:solidFill>
                <a:latin typeface="Aptos"/>
              </a:rPr>
              <a:t>structured Markdown + source IDs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70448" y="3355848"/>
            <a:ext cx="310896" cy="0"/>
          </a:xfrm>
          <a:prstGeom prst="line">
            <a:avLst/>
          </a:prstGeom>
          <a:ln w="20320">
            <a:solidFill>
              <a:srgbClr val="19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09360" y="2423160"/>
            <a:ext cx="230428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423160"/>
            <a:ext cx="2304288" cy="100584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743200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824"/>
                </a:solidFill>
                <a:latin typeface="Aptos Display"/>
              </a:rPr>
              <a:t>App validates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346704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716B"/>
                </a:solidFill>
                <a:latin typeface="Aptos"/>
              </a:rPr>
              <a:t>source IDs resolve to supplied references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59368" y="3355848"/>
            <a:ext cx="310896" cy="0"/>
          </a:xfrm>
          <a:prstGeom prst="line">
            <a:avLst/>
          </a:prstGeom>
          <a:ln w="20320">
            <a:solidFill>
              <a:srgbClr val="198F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98280" y="2423160"/>
            <a:ext cx="2304288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2423160"/>
            <a:ext cx="2304288" cy="100584"/>
          </a:xfrm>
          <a:prstGeom prst="rect">
            <a:avLst/>
          </a:prstGeom>
          <a:solidFill>
            <a:srgbClr val="19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81159" y="2743200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824"/>
                </a:solidFill>
                <a:latin typeface="Aptos Display"/>
              </a:rPr>
              <a:t>Proposal returned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59" y="3346704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716B"/>
                </a:solidFill>
                <a:latin typeface="Aptos"/>
              </a:rPr>
              <a:t>content + trusted source links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92040"/>
            <a:ext cx="10671048" cy="969264"/>
          </a:xfrm>
          <a:prstGeom prst="roundRect">
            <a:avLst>
              <a:gd name="adj" fmla="val 12000"/>
            </a:avLst>
          </a:prstGeom>
          <a:solidFill>
            <a:srgbClr val="FB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129784"/>
            <a:ext cx="19933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16A55"/>
                </a:solidFill>
                <a:latin typeface="Aptos"/>
              </a:rPr>
              <a:t>CURRENT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5056632"/>
            <a:ext cx="813816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72824"/>
                </a:solidFill>
                <a:latin typeface="Aptos"/>
              </a:rPr>
              <a:t>Drafting is not a CLI workflow and does not fetch sprint or release scope automatically.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F716B"/>
                </a:solidFill>
                <a:latin typeface="Aptos"/>
              </a:rPr>
              <a:t>GITHUB PROJECT INTELLIGENCE  /  LEADERSHIP BRIEF  /  27 OCT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F716B"/>
                </a:solidFill>
                <a:latin typeface="Apto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E66F"/>
                </a:solidFill>
                <a:latin typeface="Aptos"/>
              </a:rPr>
              <a:t>06  /  HUMAN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Wiki writes are deliberately disabled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4EFEB"/>
                </a:solidFill>
                <a:latin typeface="Aptos"/>
              </a:rPr>
              <a:t>The publisher enforces approval, authorization, conflict checks, and idempotency; no adapter is configured.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93392"/>
            <a:ext cx="10698480" cy="566928"/>
          </a:xfrm>
          <a:prstGeom prst="roundRect">
            <a:avLst>
              <a:gd name="adj" fmla="val 12000"/>
            </a:avLst>
          </a:prstGeom>
          <a:solidFill>
            <a:srgbClr val="F16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39696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CURRENT STATE   /   UNAVAILABLE WIKI ADAPTER   /   NO WRITE CAPABILITY VERIFIED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27248"/>
            <a:ext cx="1920240" cy="1938528"/>
          </a:xfrm>
          <a:prstGeom prst="roundRect">
            <a:avLst>
              <a:gd name="adj" fmla="val 12000"/>
            </a:avLst>
          </a:prstGeom>
          <a:solidFill>
            <a:srgbClr val="233A35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8F83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7328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Allowlist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157276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E4EFEB"/>
                </a:solidFill>
                <a:latin typeface="Aptos"/>
              </a:rPr>
              <a:t>Repository in approved scope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1" y="3127248"/>
            <a:ext cx="1920240" cy="1938528"/>
          </a:xfrm>
          <a:prstGeom prst="roundRect">
            <a:avLst>
              <a:gd name="adj" fmla="val 12000"/>
            </a:avLst>
          </a:prstGeom>
          <a:solidFill>
            <a:srgbClr val="233A35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33375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16A55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3767328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4206240"/>
            <a:ext cx="157276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E4EFEB"/>
                </a:solidFill>
                <a:latin typeface="Aptos"/>
              </a:rPr>
              <a:t>Exact proposal digest + authorized reviewer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4064" y="3127248"/>
            <a:ext cx="1920240" cy="1938528"/>
          </a:xfrm>
          <a:prstGeom prst="roundRect">
            <a:avLst>
              <a:gd name="adj" fmla="val 12000"/>
            </a:avLst>
          </a:prstGeom>
          <a:solidFill>
            <a:srgbClr val="233A35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33375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2BD62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66944" y="3767328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6944" y="4206240"/>
            <a:ext cx="157276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E4EFEB"/>
                </a:solidFill>
                <a:latin typeface="Aptos"/>
              </a:rPr>
              <a:t>Verified read and operation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0336" y="3127248"/>
            <a:ext cx="1920240" cy="1938528"/>
          </a:xfrm>
          <a:prstGeom prst="roundRect">
            <a:avLst>
              <a:gd name="adj" fmla="val 12000"/>
            </a:avLst>
          </a:prstGeom>
          <a:solidFill>
            <a:srgbClr val="233A35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43215" y="33375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9E66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5" y="3767328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3215" y="4206240"/>
            <a:ext cx="157276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E4EFEB"/>
                </a:solidFill>
                <a:latin typeface="Aptos"/>
              </a:rPr>
              <a:t>Reject stale page or create conflict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8" y="3127248"/>
            <a:ext cx="1920240" cy="1938528"/>
          </a:xfrm>
          <a:prstGeom prst="roundRect">
            <a:avLst>
              <a:gd name="adj" fmla="val 12000"/>
            </a:avLst>
          </a:prstGeom>
          <a:solidFill>
            <a:srgbClr val="233A35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9488" y="3337560"/>
            <a:ext cx="411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98F83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9488" y="3767328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Receipt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9488" y="4206240"/>
            <a:ext cx="1572768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E4EFEB"/>
                </a:solidFill>
                <a:latin typeface="Aptos"/>
              </a:rPr>
              <a:t>Idempotency claim + audit 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5596128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D9E66F"/>
                </a:solidFill>
                <a:latin typeface="Aptos"/>
              </a:rPr>
              <a:t>Leadership implication: choose and verify a wiki adapter before approving any pilot that includes writes.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425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E4EFEB"/>
                </a:solidFill>
                <a:latin typeface="Aptos"/>
              </a:rPr>
              <a:t>GITHUB PROJECT INTELLIGENCE  /  LEADERSHIP BRIEF  /  27 OCT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4EFEB"/>
                </a:solidFill>
                <a:latin typeface="Apto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8F83"/>
                </a:solidFill>
                <a:latin typeface="Aptos"/>
              </a:rPr>
              <a:t>07  /  DATA AND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72824"/>
                </a:solidFill>
                <a:latin typeface="Aptos Display"/>
              </a:rPr>
              <a:t>Durable records are designed, but separate from status.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716B"/>
                </a:solidFill>
                <a:latin typeface="Aptos"/>
              </a:rPr>
              <a:t>PostgreSQL-backed APIs exist for scoped memory, audit events, and wiki write attempts.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9424"/>
            <a:ext cx="3246120" cy="2578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49424"/>
            <a:ext cx="3246120" cy="118872"/>
          </a:xfrm>
          <a:prstGeom prst="rect">
            <a:avLst/>
          </a:prstGeom>
          <a:solidFill>
            <a:srgbClr val="198F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1518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2824"/>
                </a:solidFill>
                <a:latin typeface="Aptos Display"/>
              </a:rPr>
              <a:t>Approved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716B"/>
                </a:solidFill>
                <a:latin typeface="Aptos"/>
              </a:rPr>
              <a:t>User + repository + optional project scope; expiry is explicit.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224528"/>
            <a:ext cx="2377440" cy="310896"/>
          </a:xfrm>
          <a:prstGeom prst="roundRect">
            <a:avLst>
              <a:gd name="adj" fmla="val 12000"/>
            </a:avLst>
          </a:prstGeom>
          <a:solidFill>
            <a:srgbClr val="E4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4256532"/>
            <a:ext cx="22311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2824"/>
                </a:solidFill>
                <a:latin typeface="Aptos"/>
              </a:rPr>
              <a:t>90-DAY DEV DEFAULT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249424"/>
            <a:ext cx="3246120" cy="2578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2249424"/>
            <a:ext cx="3246120" cy="118872"/>
          </a:xfrm>
          <a:prstGeom prst="rect">
            <a:avLst/>
          </a:prstGeom>
          <a:solidFill>
            <a:srgbClr val="F16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261518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2824"/>
                </a:solidFill>
                <a:latin typeface="Aptos Display"/>
              </a:rPr>
              <a:t>Audit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6" y="32461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716B"/>
                </a:solidFill>
                <a:latin typeface="Aptos"/>
              </a:rPr>
              <a:t>Record outcomes and error categories without storing credentials.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62856" y="4224528"/>
            <a:ext cx="2377440" cy="310896"/>
          </a:xfrm>
          <a:prstGeom prst="roundRect">
            <a:avLst>
              <a:gd name="adj" fmla="val 12000"/>
            </a:avLst>
          </a:prstGeom>
          <a:solidFill>
            <a:srgbClr val="E4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4256532"/>
            <a:ext cx="22311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2824"/>
                </a:solidFill>
                <a:latin typeface="Aptos"/>
              </a:rPr>
              <a:t>TRACEABLE EVENTS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2249424"/>
            <a:ext cx="3246120" cy="2578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36992" y="2249424"/>
            <a:ext cx="3246120" cy="118872"/>
          </a:xfrm>
          <a:prstGeom prst="rect">
            <a:avLst/>
          </a:prstGeom>
          <a:solidFill>
            <a:srgbClr val="F2B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261518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2824"/>
                </a:solidFill>
                <a:latin typeface="Aptos Display"/>
              </a:rPr>
              <a:t>Write attempts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324612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F716B"/>
                </a:solidFill>
                <a:latin typeface="Aptos"/>
              </a:rPr>
              <a:t>Track proposal digest, idempotency key, and uncertain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5592" y="4224528"/>
            <a:ext cx="2377440" cy="310896"/>
          </a:xfrm>
          <a:prstGeom prst="roundRect">
            <a:avLst>
              <a:gd name="adj" fmla="val 12000"/>
            </a:avLst>
          </a:prstGeom>
          <a:solidFill>
            <a:srgbClr val="E4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38744" y="4256532"/>
            <a:ext cx="22311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172824"/>
                </a:solidFill>
                <a:latin typeface="Aptos"/>
              </a:rPr>
              <a:t>NO BLIND RETRIES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266944"/>
            <a:ext cx="10451592" cy="621792"/>
          </a:xfrm>
          <a:prstGeom prst="roundRect">
            <a:avLst>
              <a:gd name="adj" fmla="val 12000"/>
            </a:avLst>
          </a:prstGeom>
          <a:solidFill>
            <a:srgbClr val="F0F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5431536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72824"/>
                </a:solidFill>
                <a:latin typeface="Aptos"/>
              </a:rPr>
              <a:t>The status CLI does not use persistence; DATABASE_URL is not required for that workflow.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6053328"/>
            <a:ext cx="10332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F716B"/>
                </a:solidFill>
                <a:latin typeface="Aptos"/>
              </a:rPr>
              <a:t>Production decisions still needed: retention period, access policy, backup/restore, and operational ownership.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F716B"/>
                </a:solidFill>
                <a:latin typeface="Aptos"/>
              </a:rPr>
              <a:t>GITHUB PROJECT INTELLIGENCE  /  LEADERSHIP BRIEF  /  27 OCT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F716B"/>
                </a:solidFill>
                <a:latin typeface="Apto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198F83"/>
                </a:solidFill>
                <a:latin typeface="Aptos"/>
              </a:rPr>
              <a:t>08  / 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72824"/>
                </a:solidFill>
                <a:latin typeface="Aptos Display"/>
              </a:rPr>
              <a:t>The baseline is passing; the evidence set is still small.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F716B"/>
                </a:solidFill>
                <a:latin typeface="Aptos"/>
              </a:rPr>
              <a:t>Local checks run for this presentation on 27 Oct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103120"/>
            <a:ext cx="3246120" cy="2606040"/>
          </a:xfrm>
          <a:prstGeom prst="roundRect">
            <a:avLst>
              <a:gd name="adj" fmla="val 12000"/>
            </a:avLst>
          </a:prstGeom>
          <a:solidFill>
            <a:srgbClr val="172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87168"/>
            <a:ext cx="26517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D9E66F"/>
                </a:solidFill>
                <a:latin typeface="Aptos Display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3465576"/>
            <a:ext cx="2578608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automated tests passed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4151376"/>
            <a:ext cx="2514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4EFEB"/>
                </a:solidFill>
                <a:latin typeface="Consolas"/>
              </a:rPr>
              <a:t>pytest -q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2103120"/>
            <a:ext cx="3246120" cy="2606040"/>
          </a:xfrm>
          <a:prstGeom prst="roundRect">
            <a:avLst>
              <a:gd name="adj" fmla="val 12000"/>
            </a:avLst>
          </a:prstGeom>
          <a:solidFill>
            <a:srgbClr val="E4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487168"/>
            <a:ext cx="265176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300" b="1" i="0">
                <a:solidFill>
                  <a:srgbClr val="198F83"/>
                </a:solidFill>
                <a:latin typeface="Aptos Display"/>
              </a:rPr>
              <a:t>1.00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3465576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72824"/>
                </a:solidFill>
                <a:latin typeface="Aptos"/>
              </a:rPr>
              <a:t>all offline eval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415137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F716B"/>
                </a:solidFill>
                <a:latin typeface="Aptos"/>
              </a:rPr>
              <a:t>1 versioned case 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103120"/>
            <a:ext cx="3611880" cy="2606040"/>
          </a:xfrm>
          <a:prstGeom prst="roundRect">
            <a:avLst>
              <a:gd name="adj" fmla="val 12000"/>
            </a:avLst>
          </a:prstGeom>
          <a:solidFill>
            <a:srgbClr val="FBE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487168"/>
            <a:ext cx="290779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F16A55"/>
                </a:solidFill>
                <a:latin typeface="Aptos"/>
              </a:rPr>
              <a:t>WHAT IT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971800"/>
            <a:ext cx="27432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16A55"/>
                </a:solidFill>
                <a:latin typeface="Aptos"/>
              </a:rPr>
              <a:t>•  </a:t>
            </a:r>
            <a:r>
              <a:rPr sz="1100">
                <a:solidFill>
                  <a:srgbClr val="172824"/>
                </a:solidFill>
                <a:latin typeface="Aptos"/>
              </a:rPr>
              <a:t>Citation coverage and alignment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6A55"/>
                </a:solidFill>
                <a:latin typeface="Aptos"/>
              </a:rPr>
              <a:t>•  </a:t>
            </a:r>
            <a:r>
              <a:rPr sz="1100">
                <a:solidFill>
                  <a:srgbClr val="172824"/>
                </a:solidFill>
                <a:latin typeface="Aptos"/>
              </a:rPr>
              <a:t>Source precision and tool choice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6A55"/>
                </a:solidFill>
                <a:latin typeface="Aptos"/>
              </a:rPr>
              <a:t>•  </a:t>
            </a:r>
            <a:r>
              <a:rPr sz="1100">
                <a:solidFill>
                  <a:srgbClr val="172824"/>
                </a:solidFill>
                <a:latin typeface="Aptos"/>
              </a:rPr>
              <a:t>Read-only behavior and injection leakage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5138928"/>
            <a:ext cx="10680192" cy="749808"/>
          </a:xfrm>
          <a:prstGeom prst="roundRect">
            <a:avLst>
              <a:gd name="adj" fmla="val 12000"/>
            </a:avLst>
          </a:prstGeom>
          <a:solidFill>
            <a:srgbClr val="F0F4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321808"/>
            <a:ext cx="101955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72824"/>
                </a:solidFill>
                <a:latin typeface="Aptos"/>
              </a:rPr>
              <a:t>Interpretation: useful regression signal, not production certification. Evaluation thresholds remain provisional.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D8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5F716B"/>
                </a:solidFill>
                <a:latin typeface="Aptos"/>
              </a:rPr>
              <a:t>GITHUB PROJECT INTELLIGENCE  /  LEADERSHIP BRIEF  /  27 OCT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F716B"/>
                </a:solidFill>
                <a:latin typeface="Apto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8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47472"/>
            <a:ext cx="5943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D9E66F"/>
                </a:solidFill>
                <a:latin typeface="Aptos"/>
              </a:rPr>
              <a:t>09  /  LEADERSHIP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 Display"/>
              </a:rPr>
              <a:t>Approve the next validation phase, not production release.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44168"/>
            <a:ext cx="10789920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E4EFEB"/>
                </a:solidFill>
                <a:latin typeface="Aptos"/>
              </a:rPr>
              <a:t>Keep writes disabled until access, quality, and operating controls are verified.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066543"/>
            <a:ext cx="4956048" cy="1060704"/>
          </a:xfrm>
          <a:prstGeom prst="roundRect">
            <a:avLst>
              <a:gd name="adj" fmla="val 12000"/>
            </a:avLst>
          </a:prstGeom>
          <a:solidFill>
            <a:srgbClr val="233A35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94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98F83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1056" y="2194560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Live-service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1056" y="2542032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E4EFEB"/>
                </a:solidFill>
                <a:latin typeface="Aptos"/>
              </a:rPr>
              <a:t>Confirm target repositories, GitHub MCP access, and Google model availability.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2066543"/>
            <a:ext cx="4956048" cy="1060704"/>
          </a:xfrm>
          <a:prstGeom prst="roundRect">
            <a:avLst>
              <a:gd name="adj" fmla="val 12000"/>
            </a:avLst>
          </a:prstGeom>
          <a:solidFill>
            <a:srgbClr val="233A35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2494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16A55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86016" y="2194560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Quality bar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016" y="2542032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E4EFEB"/>
                </a:solidFill>
                <a:latin typeface="Aptos"/>
              </a:rPr>
              <a:t>Ratify evaluation thresholds and expand the representative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374135"/>
            <a:ext cx="4956048" cy="1060704"/>
          </a:xfrm>
          <a:prstGeom prst="roundRect">
            <a:avLst>
              <a:gd name="adj" fmla="val 12000"/>
            </a:avLst>
          </a:prstGeom>
          <a:solidFill>
            <a:srgbClr val="233A35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55701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D62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1056" y="3502151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Wiki 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91056" y="3849623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E4EFEB"/>
                </a:solidFill>
                <a:latin typeface="Aptos"/>
              </a:rPr>
              <a:t>Select a supported adapter; verify page versioning and reviewer identity.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374135"/>
            <a:ext cx="4956048" cy="1060704"/>
          </a:xfrm>
          <a:prstGeom prst="roundRect">
            <a:avLst>
              <a:gd name="adj" fmla="val 12000"/>
            </a:avLst>
          </a:prstGeom>
          <a:solidFill>
            <a:srgbClr val="233A35"/>
          </a:solidFill>
          <a:ln w="12700">
            <a:solidFill>
              <a:srgbClr val="425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557015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E66F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6016" y="3502151"/>
            <a:ext cx="3794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Operating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6016" y="3849623"/>
            <a:ext cx="3794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E4EFEB"/>
                </a:solidFill>
                <a:latin typeface="Aptos"/>
              </a:rPr>
              <a:t>Approve secret handling, data retention, audit access, and recovery ownership.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093208"/>
            <a:ext cx="10351008" cy="749808"/>
          </a:xfrm>
          <a:prstGeom prst="roundRect">
            <a:avLst>
              <a:gd name="adj" fmla="val 12000"/>
            </a:avLst>
          </a:prstGeom>
          <a:solidFill>
            <a:srgbClr val="D9E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294376"/>
            <a:ext cx="98938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72824"/>
                </a:solidFill>
                <a:latin typeface="Aptos"/>
              </a:rPr>
              <a:t>RECOMMENDATION   /   Pilot read-only status first; gate persistence and wiki writes behind separate approvals.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446520"/>
            <a:ext cx="10927080" cy="10972"/>
          </a:xfrm>
          <a:prstGeom prst="rect">
            <a:avLst/>
          </a:prstGeom>
          <a:solidFill>
            <a:srgbClr val="425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519672"/>
            <a:ext cx="8686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E4EFEB"/>
                </a:solidFill>
                <a:latin typeface="Aptos"/>
              </a:rPr>
              <a:t>GITHUB PROJECT INTELLIGENCE  /  LEADERSHIP BRIEF  /  27 OCT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5486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E4EFEB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Project Intelligence and Documentation Assistant</dc:title>
  <dc:subject>Leadership overview of current capability, safeguards, and delivery gates</dc:subject>
  <dc:creator>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